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00E"/>
                </a:solidFill>
                <a:latin typeface="Calibri"/>
              </a:defRPr>
            </a:pPr>
            <a:r>
              <a:rPr lang="en-IN" sz="1400" b="0" i="0" u="none" strike="noStrike">
                <a:solidFill>
                  <a:srgbClr val="14100E"/>
                </a:solidFill>
                <a:latin typeface="Calibri"/>
              </a:rPr>
              <a:t>Transmittance survival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</c:v>
                </c:pt>
              </c:strCache>
            </c:strRef>
          </c:tx>
          <c:spPr>
            <a:solidFill>
              <a:srgbClr val="C87D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100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410 nm</c:v>
                </c:pt>
                <c:pt idx="1">
                  <c:v>435 nm</c:v>
                </c:pt>
                <c:pt idx="2">
                  <c:v>460 nm</c:v>
                </c:pt>
                <c:pt idx="3">
                  <c:v>860 nm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45</c:v>
                </c:pt>
                <c:pt idx="2">
                  <c:v>65</c:v>
                </c:pt>
                <c:pt idx="3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81-465B-9552-B47BE4296F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55C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DE6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5C5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97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read the slide — go straight into the 90-second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legal limit carries the stakes on its own. Do not over-sell the health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is the hook, not the contribution. Move quickly to why two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blindness is the point — it is what makes the two channels genuinely 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centrepiece. Walk the two cards left to right, then the closing line. Everything the device does well is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one technical question, it is usually this: why upload raw? Answer from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 aloud. Point at the total and the 72%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 is the one judges probe. It is why every past reading survives a calibration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860 nm and not 940: the AS7265x letters are not in wavelength order, and I verified the mapping against the library rather than assuming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design work completed, not as a defect. If pressed on current performance, say the concentric cell is the build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same line you built the talk around.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OilSense</a:t>
            </a:r>
            <a:endParaRPr lang="en-US" sz="6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sensors. Two independent channels.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measurement that checks itself.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₹9,262 frying-oil degradation meter, built against a ₹40,000–50,000 commercial tester.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17707E"/>
          </a:solidFill>
          <a:ln w="12700">
            <a:solidFill>
              <a:srgbClr val="1770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800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480060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C87D1E"/>
          </a:solidFill>
          <a:ln w="12700">
            <a:solidFill>
              <a:srgbClr val="C87D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4800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52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Roansh Desai  ·  Class 11  ·  Mumbai  ·  IRIS National Fair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19F946-E3F2-BDFD-7FD5-6F5DF93D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413" y="731520"/>
            <a:ext cx="412432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measures the oil they fry 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polar compounds — India's legal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limit, binding on every food business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 July 2018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₹40–50k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handheld tester costs.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FSSAI's own published figure.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7830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715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FSSAI advises as the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maximum. Frying runs at 170–190 °C.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911535" cy="1325880"/>
          </a:xfrm>
          <a:prstGeom prst="roundRect">
            <a:avLst>
              <a:gd name="adj" fmla="val 3448"/>
            </a:avLst>
          </a:prstGeom>
          <a:solidFill>
            <a:srgbClr val="F5EFE7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4515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links polar compounds to hypertension, atherosclerosis, Alzheimer's and liver disease.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047488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is law. The instrument is priced out of the kitchens that need it. That gap is the opportunity.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measurement, one twentieth of the price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2240280"/>
          </a:xfrm>
          <a:prstGeom prst="roundRect">
            <a:avLst>
              <a:gd name="adj" fmla="val 2041"/>
            </a:avLst>
          </a:prstGeom>
          <a:solidFill>
            <a:srgbClr val="F5EFE7"/>
          </a:solidFill>
          <a:ln w="12700">
            <a:solidFill>
              <a:srgbClr val="E5DD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handheld tester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408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5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₹40,000–50,000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dielectric channel. Nothing to check it against.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2240280"/>
          </a:xfrm>
          <a:prstGeom prst="roundRect">
            <a:avLst>
              <a:gd name="adj" fmla="val 2041"/>
            </a:avLst>
          </a:prstGeom>
          <a:solidFill>
            <a:srgbClr val="FBF3E8"/>
          </a:solidFill>
          <a:ln w="12700">
            <a:solidFill>
              <a:srgbClr val="E8D5B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OilSense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4086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₹9,262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channels that cross-check each other.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3484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route is one cheap sensor. </a:t>
            </a:r>
            <a:r>
              <a:rPr lang="en-US" sz="16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the thing you cannot trust</a:t>
            </a:r>
            <a:r>
              <a:rPr lang="en-US" sz="16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single low-cost channel has no way to tell a real reading from a drifting one. Two channels do.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chemistry, two unrelated consequences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Frying degrades oil into polar compounds. Those compounds change two things that have nothing to do with each 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5349240" cy="3154680"/>
          </a:xfrm>
          <a:prstGeom prst="roundRect">
            <a:avLst>
              <a:gd name="adj" fmla="val 1449"/>
            </a:avLst>
          </a:prstGeom>
          <a:solidFill>
            <a:srgbClr val="EEF5F6"/>
          </a:solidFill>
          <a:ln w="12700">
            <a:solidFill>
              <a:srgbClr val="CFE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4505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17707E"/>
          </a:solidFill>
          <a:ln w="12700">
            <a:solidFill>
              <a:srgbClr val="1770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505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26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 molecules align in an electric field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584448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Permittivity rises linearly with concentration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an FDC1004 across steel electrodes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anything not dissolved in the oil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212848"/>
            <a:ext cx="5349240" cy="3154680"/>
          </a:xfrm>
          <a:prstGeom prst="roundRect">
            <a:avLst>
              <a:gd name="adj" fmla="val 1449"/>
            </a:avLst>
          </a:prstGeom>
          <a:solidFill>
            <a:srgbClr val="FBF3E8"/>
          </a:solidFill>
          <a:ln w="12700">
            <a:solidFill>
              <a:srgbClr val="E8D5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45059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C87D1E"/>
          </a:solidFill>
          <a:ln w="12700">
            <a:solidFill>
              <a:srgbClr val="C87D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4505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2608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Conjugated double bonds absorb blue light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584448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Transmittance falls exponentially (Beer–Lambert)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channels, 410–940 nm, on an AS7265x triad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colourless contamination such as water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channel is blind to exactly what the other sees — and a third sensor, temperature, corrects the permittivity reading for heat.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measurement.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check it.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channels run on unrelated physics — so they confirm each other, and each one catches exactly what the other cannot see.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B282C"/>
          </a:solidFill>
          <a:ln w="19050">
            <a:solidFill>
              <a:srgbClr val="1770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5935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capacitive channel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050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C5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FINDS WATER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805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Permittivity 80 against oil's 3, so it shows up at once. Water is colourless — optics alone never would.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38328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2A2119"/>
          </a:solidFill>
          <a:ln w="19050">
            <a:solidFill>
              <a:srgbClr val="C87D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5935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optical channel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0050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FINDS BURNT RESIDUE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4805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blocks light, so it shows up at once. It is not dissolved — capacitance alone never would.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gives you a number. Two tell you whether to believe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instrument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4100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926080"/>
            <a:ext cx="118872" cy="1325880"/>
          </a:xfrm>
          <a:prstGeom prst="rect">
            <a:avLst/>
          </a:prstGeom>
          <a:solidFill>
            <a:srgbClr val="9A8F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926080"/>
            <a:ext cx="118872" cy="1325880"/>
          </a:xfrm>
          <a:prstGeom prst="rect">
            <a:avLst/>
          </a:prstGeom>
          <a:solidFill>
            <a:srgbClr val="9A8F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39776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C87D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" y="3977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oil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8745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EF5F6"/>
          </a:solidFill>
          <a:ln w="19050">
            <a:solidFill>
              <a:srgbClr val="1770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16936" y="199339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FDC1004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916936" y="22860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· 0x50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2962656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FBF3E8"/>
          </a:solidFill>
          <a:ln w="19050">
            <a:solidFill>
              <a:srgbClr val="C87D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16936" y="30815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AS7265x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916936" y="337413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channels · 0x49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88920" y="4050792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F5EFE7"/>
          </a:solidFill>
          <a:ln w="19050">
            <a:solidFill>
              <a:srgbClr val="B9AF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16936" y="416966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916936" y="44622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1-Wire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2295144"/>
            <a:ext cx="457200" cy="0"/>
          </a:xfrm>
          <a:prstGeom prst="line">
            <a:avLst/>
          </a:prstGeom>
          <a:noFill/>
          <a:ln w="22225">
            <a:solidFill>
              <a:srgbClr val="17707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0" y="3383280"/>
            <a:ext cx="457200" cy="0"/>
          </a:xfrm>
          <a:prstGeom prst="line">
            <a:avLst/>
          </a:prstGeom>
          <a:noFill/>
          <a:ln w="22225">
            <a:solidFill>
              <a:srgbClr val="C87D1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86000" y="4471416"/>
            <a:ext cx="457200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06440" y="278892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5EFE7"/>
          </a:solidFill>
          <a:ln w="19050">
            <a:solidFill>
              <a:srgbClr val="14100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34456" y="290779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34456" y="320040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reading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38928" y="2295144"/>
            <a:ext cx="603504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38928" y="3383280"/>
            <a:ext cx="603504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38928" y="4471416"/>
            <a:ext cx="603504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41080" y="205740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5EFE7"/>
          </a:solidFill>
          <a:ln w="19050">
            <a:solidFill>
              <a:srgbClr val="B9AFA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69096" y="21762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readout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769096" y="2468880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which channels voted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41080" y="397764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BF3E8"/>
          </a:solidFill>
          <a:ln w="19050">
            <a:solidFill>
              <a:srgbClr val="C87D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69096" y="409651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769096" y="4389120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observables 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73568" y="2478024"/>
            <a:ext cx="603504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973568" y="4398264"/>
            <a:ext cx="603504" cy="0"/>
          </a:xfrm>
          <a:prstGeom prst="line">
            <a:avLst/>
          </a:prstGeom>
          <a:noFill/>
          <a:ln w="22225">
            <a:solidFill>
              <a:srgbClr val="B9AFA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5263"/>
            </a:avLst>
          </a:prstGeom>
          <a:solidFill>
            <a:srgbClr val="FBF3E8"/>
          </a:solidFill>
          <a:ln w="12700">
            <a:solidFill>
              <a:srgbClr val="E8D5B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5321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Capacitance, temperature and 36 channel values are uploaded. The index and the verdict are not — every derived number depends on calibration constants that change, so storing raw means the whole history re-derives.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made of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268833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SparkFun AS7265x triad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18-channel spectrometer, 410–940 nm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ProtoCentral FDC1004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24-bit capacitance-to-digital 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Acquisition, display, WiFi 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SSD1306 OLED + DS18B20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 and 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304 rods, PETG housing, battery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and enclosure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₹40,000–50,000 commercial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9A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7548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000" dirty="0"/>
          </a:p>
          <a:p>
            <a:pPr marL="0" indent="0">
              <a:buNone/>
            </a:pPr>
            <a:r>
              <a:rPr lang="en-US" sz="13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build cost is the spectrometer — the one part a cheaper design would have to attack first.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172200" y="4754880"/>
            <a:ext cx="5349240" cy="1188720"/>
          </a:xfrm>
          <a:prstGeom prst="roundRect">
            <a:avLst>
              <a:gd name="adj" fmla="val 3846"/>
            </a:avLst>
          </a:prstGeom>
          <a:solidFill>
            <a:srgbClr val="EEF5F6"/>
          </a:solidFill>
          <a:ln w="12700">
            <a:solidFill>
              <a:srgbClr val="CFE0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49560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sensors share one I²C bus — SDA 21, SCL 22 — at addresses 0x50, 0x49 and 0x3C. The probe is two steel electrodes plus a grounded thermowell.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it can be checked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329184" cy="329184"/>
          </a:xfrm>
          <a:prstGeom prst="ellipse">
            <a:avLst/>
          </a:prstGeom>
          <a:solidFill>
            <a:srgbClr val="17707E"/>
          </a:solidFill>
          <a:ln w="12700">
            <a:solidFill>
              <a:srgbClr val="1770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737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observables only, never conclusions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06654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constants change whenever the probe geometry does. Storing raw means correcting a constant re-derives the entire history instead of invalidating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329184" cy="329184"/>
          </a:xfrm>
          <a:prstGeom prst="ellipse">
            <a:avLst/>
          </a:prstGeom>
          <a:solidFill>
            <a:srgbClr val="C87D1E"/>
          </a:solidFill>
          <a:ln w="12700">
            <a:solidFill>
              <a:srgbClr val="C87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880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Dark-subtract before taking the ratio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20954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spectrum is read twice, bulb off then on. Ambient leak measured 67–87% of some channels — and the indicator is a ratio, so a leak biases it silently.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50792"/>
            <a:ext cx="329184" cy="329184"/>
          </a:xfrm>
          <a:prstGeom prst="ellipse">
            <a:avLst/>
          </a:prstGeom>
          <a:solidFill>
            <a:srgbClr val="C87D1E"/>
          </a:solidFill>
          <a:ln w="12700">
            <a:solidFill>
              <a:srgbClr val="C87D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23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 the optics in log space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5254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Permittivity is linear in concentration; transmittance is exponential. Linear normalisation made the channels bow apart by 0.130 against a 0.15 tolerance. Log dropped it to 0.066.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93792"/>
            <a:ext cx="329184" cy="329184"/>
          </a:xfrm>
          <a:prstGeom prst="ellipse">
            <a:avLst/>
          </a:prstGeom>
          <a:solidFill>
            <a:srgbClr val="17707E"/>
          </a:solidFill>
          <a:ln w="12700">
            <a:solidFill>
              <a:srgbClr val="1770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1663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channel votes only if it is quiet AND physically possible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49554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gave σ = 0.005 pF — beautifully steady — at a derived permittivity of 9.1. No edible oil exceeds 4.5. Low noise alone cannot see systematic drift.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is verified against stub libraries and a simulator that reproduces the Arduino IDE's prototype hoisting — a failure mode a plain compiler cannot reproduce.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optical channel resolves degradation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Dark-corrected transmittance, fresh oil → amber. The signal rises monotonically with wavelength — that ordering is what absorbance does, and what noise does not.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is absorbed by the conjugated double bonds frying creates; near-infrared passes almost untouched. The ratio between them is the indicator.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21% fresh-to-amber swing across the blue end, against a near-infrared reference that barely moves.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stored raw, so the same dips re-analyse the moment the scale is anchored to lab-measured TPC.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0" y="169164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806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Wavelengths verified against the sensor library's own channel map.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v2 electrode is already designed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Capacitance scales with the logarithm of electrode spacing, so parallel rods have a hard ceiling no amount of wiring can lift. Four geometries were evaluated against the cell constant needed to resolve the 20% advisory threshold.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6583680" cy="1920240"/>
        </p:xfrm>
        <a:graphic>
          <a:graphicData uri="http://schemas.openxmlformats.org/drawingml/2006/table">
            <a:tbl>
              <a:tblPr/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constant (pF/ε)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rods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Plates 40×40 mm, 2 mm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mm rod inside 10 mm tube, 50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9A5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 10 mm inside 12 mm, 50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41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2377440"/>
            <a:ext cx="3959352" cy="1920240"/>
          </a:xfrm>
          <a:prstGeom prst="roundRect">
            <a:avLst>
              <a:gd name="adj" fmla="val 2381"/>
            </a:avLst>
          </a:prstGeom>
          <a:solidFill>
            <a:srgbClr val="FBF3E8"/>
          </a:solidFill>
          <a:ln w="12700">
            <a:solidFill>
              <a:srgbClr val="E8D5B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Selected: concentric tube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9718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target cell constant and the outer tube shields the inner electrode — one part solving two problems at once.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617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9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48×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4754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cell constant over parallel rods, from a geometry change alone — no new components, no added cost.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0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geometry, then anchor the scale.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331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Concentric-tube electrode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67004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at 12.5 pF/ε. Lifts the cell constant and shields the inner electrode in a single part.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4290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optical path length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76732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gap to a reflector, so every dip presents the same path through the oil.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7D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5262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 against lab-measured TPC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864608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only raw data is stored, every reading already taken becomes absolutely calibrated the moment this happens.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3A2F2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1335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OilSense</dc:title>
  <dc:subject>PptxGenJS Presentation</dc:subject>
  <dc:creator>Roansh Desai</dc:creator>
  <cp:lastModifiedBy>Roansh Desai</cp:lastModifiedBy>
  <cp:revision>2</cp:revision>
  <dcterms:created xsi:type="dcterms:W3CDTF">2026-09-22T09:16:11Z</dcterms:created>
  <dcterms:modified xsi:type="dcterms:W3CDTF">2026-09-22T09:28:20Z</dcterms:modified>
</cp:coreProperties>
</file>